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SLIDE 1: DRISHTI (दृष्टि)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Explainable AI-Assisted Diabetic Retinopathy Screening &amp; Clinical Decision Support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Clinical Intelligence + Human Care | SIH 2026 PS-26038 | MathWorks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Frontline AI Retinal Screening for Primary Health Centres (PHCs)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Automated Multi-Factor Image Quality Gating (Sharpness, Exposure, FOV)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ResNet-18 5-Class Severity Staging + Grad-CAM Neural Attention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Dual-Persona Telemedicine &amp; Immutable PostgreSQL Clinical Audit Trail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District-Scale Telemedicine Modeling for 100,000+ Annual Rural Screenings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SLIDE 2: The Diabetic Blindness Crisis in Rural India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Overwhelming Patient Volume Meets Extreme Specialist Scarcity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77+ Million Diabetic Patients vs ~20,000 Ophthalmologists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Silent Pathology: Early non-proliferative retinopathy exhibits zero symptoms until vision loss is irreversible.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Rural Access Deficit: Specialist density in rural districts is &lt; 1:100,000; patients travel 50-100 km for routine exams.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Screening Throughput Collapse: Manual screening cannot keep pace with annual national examination mandates.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Delayed Treatment Window: Routine screening backlogs cause patients to miss the window for laser photocoagulation.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SLIDE 3: Why Traditional Medical AI Fails in the Field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The Triad of Failure: Black-Box Opacity, Quality Blindness, Disconnected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 standalone Python script is not a clinical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Black-Box Opacity: Traditional CNNs output an uninterpretable probability number without anatomical evidence.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Quality Blindness: Standard models perform inference on blurred/dark photos, outputting dangerous false negatives.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Telemedicine Disconnection: Lack of role-based portals, offline synchronization, and clinician validation workflows.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Regulatory &amp; Trust Gap: Clinicians cannot adopt unverified AI decisions without human-in-the-loop oversight.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SLIDE 4: Drishti: End-to-End System Architecture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Gated, Explainable, and Clinician-Validated Telemedicine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Assists. Doctor Decides. Complete Safety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Pillar 1 — Image Quality Gate: Multi-factor Laplacian focus, illumination, and FOV scoring blocks ungradable inputs.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Pillar 2 — Explainable Deep Learning: Fine-tuned ResNet-18 paired with Grad-CAM neural attention overlays.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Pillar 3 — Human-in-the-Loop: Dual-persona mobile client syncing with Supabase PostgreSQL and specialist review queue.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Pillar 4 — District Scaling: M/M/c discrete-event queuing simulation in MATLAB/Simulink for 120,000 annual patients.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SLIDE 5: Image Quality Gating &amp; Safety Engine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Preventing False Negatives Before Neural Inference Begins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Composite Quality Score = 0.45 * Focus + 0.35 * Illumination + 0.20 * FOV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Focus &amp; Blur: Discrete Laplacian variance evaluated exclusively on the segmented retinal foreground mask.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Illumination &amp; Exposure: Evaluates mean luminance, 5th/95th percentiles, and over/underexposure penalties.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Field of View (FOV): Otsu contour thresholding verifies &gt;= 65% retinal coverage without edge occlusion.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Tri-State Gating: GOOD (&gt;=0.70 -&gt; AI), BORDERLINE (0.45-0.69 -&gt; CLAHE -&gt; AI), UNGRADABLE (&lt;0.45 -&gt; Block AI &amp; Recapture).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SLIDE 6: Adaptive Retinal Preprocessing &amp; Structure Analysis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Enhancing Contrast and Extracting Anatomical Landmarks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Exploratory Computer Vision Tools Supporting Decision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Auto-Cropping: Automatically identifies non-zero bounding box to strip black background borders.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Green Channel CLAHE: Contrast-limited adaptive histogram equalization (ClipLimit=0.02, 8x8 tiles) highlights microaneurysms.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Blood Vessel Enhancement: Morphological top-hat filtering with disc structuring element (r=8) isolates vascular tree.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Optic Disc Centroid: Regional peak red intensity localization provides anatomical reference for clinical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SLIDE 7: Deep Learning Backbone — ResNet-18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Residual Feature Extraction with Sub-50ms CPU Edge 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Pretrained on ImageNet-1k, Fine-Tuned on 3,662 Real APTOS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Residual Learning: Skip connections (F(x) + x) eliminate vanishing gradients during deep feature backprop.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Layer Topology: 4 residual stages (64, 128, 256, 512 channels) capturing multi-scale microvascular lesions.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Compact Edge Footprint: 11.2M parameters, 44.8 MB state dict, optimized for rural tablets and low-power servers.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Multi-Class Linear Head: Global Average Pooling (512x1x1) -&gt; Linear Head outputting 5 clinical severity logits.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SLIDE 8: Real APTOS Training &amp; Class Imbalance Strategy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Inverse Frequency Weighting &amp; Quadratic Weighted Kappa Checkpointing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Strict 70% Train (2563) / 15% Val (550) / 15% Test (549)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Severe Class Skew: Level 0 represents 49.3% while Level 3 represents only 5.3% of the dataset.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Inverse Class Weighting: Normalized loss weights (W0=0.41, W1=1.98, W2=0.73, W3=3.80, W4=2.48) penalize rare class misses.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Optimization: AdamW optimizer (LR=1e-4, Weight Decay=1e-2) with ReduceLROnPlateau scheduler on validation QWK.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Safe Augmentation: Random horizontal flips, rotation (+-15 deg), and color jitter simulate variable field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SLIDE 9: Rigorous Benchmark Validation (Held-Out Test Set)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Scientifically Honest Evaluation on 549 Unseen Retinal Images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QWK = 0.870 | Accuracy = 76.87% | Specificity = 96.62% | Sensitivity = 82.14%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5-Class Multiclass Agreement: Quadratic Weighted Kappa of 0.870 reflects high ordinal clinical concordance.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Binary Referable Specificity: 96.62% (SIH Target: &gt;85% | MET) — correctly clears 314 of 325 non-referable patients.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Binary Referable Sensitivity: 82.14% (SIH Target: &gt;90% | Fully reported) — identifies 184 of 224 referable cases.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Discriminative Power: ROC AUC of 0.980 demonstrates near-ideal separability between healthy and diseased retinas.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SLIDE 10: Explainable AI — Grad-CAM Neural Attention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Making Deep Learning Clinically Verifiable for Ophthalmologists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Gradients backpropagated from layer4[1].conv2 feature maps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Gradient Backpropagation: Computes gradients of predicted class score with respect to 512 conv feature maps.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Global Importance Weights: Global average pooling computes alpha_k weights filtered through ReLU.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Multi-Layer Saliency Overlay: 224x224 JET heatmap alpha-blended over fundus photo at alpha=0.45.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Clinical Trust: Clinicians visually verify that the AI triggered on macular exudates rather than camera artifacts.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SLIDE 11: Human-in-the-Loop Telemedicine &amp; Audit Trail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AI Assists Frontline Workers While Physicians Retain Authority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Validate, Override, or Reject with Immutable Audit 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Health Worker Mode: Rapid patient registration, image quality assessment, AI screening, and bilingual PDF export.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Ophthalmologist Portal: Priority-sorted telemedicine review queue with dual fundus / Grad-CAM inspection.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Clinician Review Actions: One-tap 'Validate AI Result', 'Clinician Override' with mandatory notes, or 'Mark Ungradable'.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Immutable PostgreSQL Audit: Every decision, reviewer identity, timestamp, and override note logged to audit_events.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SLIDE 12: Field-Ready Mobile &amp; Cloud Infrastructure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Flutter Material 3, Riverpod 2.5, Supabase PostgreSQL, Offline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Engineered for intermittent rural connectivity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Cross-Platform Frontend: Flutter client delivering responsive mobile, tablet, and web clinician interfaces.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Cloud Backend: Supabase PostgreSQL database with Row Level Security (RLS) policies and JWT authentication.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Cloud Storage: Secure private fundus image buckets with signed URL access control.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Offline Sync Queue: Local encrypted SQLite storage with SHA-256 integrity hashes auto-syncs when signal returns.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SLIDE 13: District-Scale Telemedicine Simulation (MATLAB/Simulink)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Queuing Model for 120,000 Annual Diabetic Screenings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Baseline (104% Overload) vs Drishti AI Triage (29% Utilization)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Rural District Workload: 120,000 annual screenings across 300 days yields arrival rate lambda = 50 patients/hour.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Baseline Failure: 2 ophthalmologists (capacity mu = 48/hr) experience rho = 104.2% utilization -&gt; infinite queue backlog.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Drishti AI Triage: ~72% cleared as routine; specialist arrival rate drops to lambda = 14/hr -&gt; utilization rho = 29.2%.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Queue Delay Reduction: Clinician review waiting time plummets from &gt;48 hours to under 4.2 minutes.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SLIDE 14: Innovation, Differentiation &amp; Competitive Edge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Why Drishti Outperforms Academic Models and Standalone Apps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The Complete Safety, Explainability, and Telemedicine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Integrated Quality Gate: Blocks ungradable images before inference (absent in academic CNN benchmarks).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Explainable Decision Support: Full Grad-CAM visual verification built directly into the doctor's review queue.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Dual-Persona Workflow: Seamless handoff between rural health workers and district hospital ophthalmologists.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District Capacity Modeling: Validated in MATLAB/Simulink to guarantee healthcare system throughput.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SLIDE 15: Roadmap &amp; Healthcare Impact Vision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Scaling from Hackathon Prototype to National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Bringing Specialist Eye Care to Every Rural Primary Health Centre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728655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Phase 1 (Current MVP): 5-Class ResNet-18, Quality Gate, Grad-CAM, Flutter/Supabase, Simulink Queuing.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Phase 2 (Q4 2026): High-resolution patch cropping (512x512) to exceed 92% sensitivity; edge TFLite offline inference.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Phase 3 (2027): Multi-centric pilot trial across 10 rural Primary Health Centres in partnership with state health missions.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•  Core Commitment: 'Drishti bridges India's rural healthcare gap with clinical intelligence and compassionate human care.'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